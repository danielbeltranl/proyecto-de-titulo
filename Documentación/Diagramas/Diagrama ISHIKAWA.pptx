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9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38c7372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38c7372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 de Ishikawa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 rot="-711028">
            <a:off x="6087087" y="2813334"/>
            <a:ext cx="1552897" cy="66253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105100" lIns="105100" spcFirstLastPara="1" rIns="105100" wrap="square" tIns="105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9"/>
          </a:p>
        </p:txBody>
      </p:sp>
      <p:sp>
        <p:nvSpPr>
          <p:cNvPr id="62" name="Google Shape;62;p14"/>
          <p:cNvSpPr/>
          <p:nvPr/>
        </p:nvSpPr>
        <p:spPr>
          <a:xfrm flipH="1" rot="711028">
            <a:off x="4610227" y="2813334"/>
            <a:ext cx="1552897" cy="66253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105100" lIns="105100" spcFirstLastPara="1" rIns="105100" wrap="square" tIns="105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9"/>
          </a:p>
        </p:txBody>
      </p:sp>
      <p:grpSp>
        <p:nvGrpSpPr>
          <p:cNvPr id="63" name="Google Shape;63;p14"/>
          <p:cNvGrpSpPr/>
          <p:nvPr/>
        </p:nvGrpSpPr>
        <p:grpSpPr>
          <a:xfrm>
            <a:off x="5076230" y="2877980"/>
            <a:ext cx="2185234" cy="1856165"/>
            <a:chOff x="5796625" y="2541798"/>
            <a:chExt cx="1712700" cy="1230715"/>
          </a:xfrm>
        </p:grpSpPr>
        <p:sp>
          <p:nvSpPr>
            <p:cNvPr id="64" name="Google Shape;64;p14"/>
            <p:cNvSpPr/>
            <p:nvPr/>
          </p:nvSpPr>
          <p:spPr>
            <a:xfrm rot="-1789476">
              <a:off x="6572742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48625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86"/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6202525" y="2735579"/>
              <a:ext cx="893400" cy="26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6650" lIns="116650" spcFirstLastPara="1" rIns="116650" wrap="square" tIns="1166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041"/>
                </a:spcAft>
                <a:buNone/>
              </a:pPr>
              <a:r>
                <a:rPr b="1" lang="es" sz="1021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Competitividad</a:t>
              </a:r>
              <a:endParaRPr b="1" sz="1021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5796625" y="3069013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86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86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86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86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86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86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86"/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5846718" y="3072364"/>
              <a:ext cx="1612500" cy="61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6650" lIns="116650" spcFirstLastPara="1" rIns="116650" wrap="square" tIns="1166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2041"/>
                </a:spcAft>
                <a:buNone/>
              </a:pPr>
              <a:r>
                <a:rPr lang="es" sz="92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Limitaciones</a:t>
              </a:r>
              <a:r>
                <a:rPr lang="es" sz="92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en la </a:t>
              </a:r>
              <a:r>
                <a:rPr lang="es" sz="92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búsqueda</a:t>
              </a:r>
              <a:r>
                <a:rPr lang="es" sz="92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de partidos que satisfagan la necesidad de competitividad activa fuera de torneos oficiales</a:t>
              </a:r>
              <a:endParaRPr sz="921">
                <a:solidFill>
                  <a:schemeClr val="lt1"/>
                </a:solidFill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660797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14"/>
          <p:cNvSpPr/>
          <p:nvPr/>
        </p:nvSpPr>
        <p:spPr>
          <a:xfrm rot="-711028">
            <a:off x="3137790" y="2813334"/>
            <a:ext cx="1552897" cy="66253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105100" lIns="105100" spcFirstLastPara="1" rIns="105100" wrap="square" tIns="105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9"/>
          </a:p>
        </p:txBody>
      </p:sp>
      <p:grpSp>
        <p:nvGrpSpPr>
          <p:cNvPr id="70" name="Google Shape;70;p14"/>
          <p:cNvGrpSpPr/>
          <p:nvPr/>
        </p:nvGrpSpPr>
        <p:grpSpPr>
          <a:xfrm>
            <a:off x="3635847" y="1302661"/>
            <a:ext cx="1968749" cy="1512686"/>
            <a:chOff x="4409300" y="1219942"/>
            <a:chExt cx="1712700" cy="1246754"/>
          </a:xfrm>
        </p:grpSpPr>
        <p:sp>
          <p:nvSpPr>
            <p:cNvPr id="71" name="Google Shape;71;p14"/>
            <p:cNvSpPr/>
            <p:nvPr/>
          </p:nvSpPr>
          <p:spPr>
            <a:xfrm rot="-1789476">
              <a:off x="5185416" y="2276970"/>
              <a:ext cx="160451" cy="160451"/>
            </a:xfrm>
            <a:prstGeom prst="ellipse">
              <a:avLst/>
            </a:prstGeom>
            <a:solidFill>
              <a:schemeClr val="lt1"/>
            </a:solidFill>
            <a:ln cap="flat" cmpd="sng" w="438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5100" lIns="105100" spcFirstLastPara="1" rIns="105100" wrap="square" tIns="105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4921731" y="1985297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100" lIns="105100" spcFirstLastPara="1" rIns="105100" wrap="square" tIns="1051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839"/>
                </a:spcAft>
                <a:buNone/>
              </a:pPr>
              <a:r>
                <a:rPr b="1" lang="es" sz="92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Gestión</a:t>
              </a:r>
              <a:endParaRPr b="1" sz="92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4409300" y="1219942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05100" lIns="105100" spcFirstLastPara="1" rIns="105100" wrap="square" tIns="105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</p:txBody>
        </p:sp>
        <p:sp>
          <p:nvSpPr>
            <p:cNvPr id="74" name="Google Shape;74;p14"/>
            <p:cNvSpPr/>
            <p:nvPr/>
          </p:nvSpPr>
          <p:spPr>
            <a:xfrm rot="10800000">
              <a:off x="5220625" y="1919036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05100" lIns="105100" spcFirstLastPara="1" rIns="105100" wrap="square" tIns="105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4453550" y="1257142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100" lIns="105100" spcFirstLastPara="1" rIns="105100" wrap="square" tIns="1051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839"/>
                </a:spcAft>
                <a:buNone/>
              </a:pPr>
              <a:r>
                <a:rPr lang="es" sz="92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Gestión de marcadores de partidos y Torneos no oficiales es engorrosa y visible solo localmente.</a:t>
              </a:r>
              <a:endParaRPr sz="920">
                <a:solidFill>
                  <a:schemeClr val="lt1"/>
                </a:solidFill>
              </a:endParaRPr>
            </a:p>
          </p:txBody>
        </p:sp>
      </p:grpSp>
      <p:sp>
        <p:nvSpPr>
          <p:cNvPr id="76" name="Google Shape;76;p14"/>
          <p:cNvSpPr/>
          <p:nvPr/>
        </p:nvSpPr>
        <p:spPr>
          <a:xfrm flipH="1" rot="711028">
            <a:off x="1652951" y="2813334"/>
            <a:ext cx="1552897" cy="66253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105100" lIns="105100" spcFirstLastPara="1" rIns="105100" wrap="square" tIns="105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" name="Google Shape;77;p14"/>
          <p:cNvGrpSpPr/>
          <p:nvPr/>
        </p:nvGrpSpPr>
        <p:grpSpPr>
          <a:xfrm>
            <a:off x="2191593" y="2877576"/>
            <a:ext cx="1968749" cy="1621467"/>
            <a:chOff x="3021975" y="2541798"/>
            <a:chExt cx="1712700" cy="1230715"/>
          </a:xfrm>
        </p:grpSpPr>
        <p:sp>
          <p:nvSpPr>
            <p:cNvPr id="78" name="Google Shape;78;p14"/>
            <p:cNvSpPr txBox="1"/>
            <p:nvPr/>
          </p:nvSpPr>
          <p:spPr>
            <a:xfrm>
              <a:off x="3529877" y="273558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100" lIns="105100" spcFirstLastPara="1" rIns="105100" wrap="square" tIns="1051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839"/>
                </a:spcAft>
                <a:buNone/>
              </a:pPr>
              <a:r>
                <a:rPr b="1" lang="es" sz="92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Registros</a:t>
              </a:r>
              <a:endParaRPr b="1" sz="92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 rot="-1789476">
              <a:off x="3798091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438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5100" lIns="105100" spcFirstLastPara="1" rIns="105100" wrap="square" tIns="105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3021975" y="3069013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05100" lIns="105100" spcFirstLastPara="1" rIns="105100" wrap="square" tIns="105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</p:txBody>
        </p:sp>
        <p:sp>
          <p:nvSpPr>
            <p:cNvPr id="81" name="Google Shape;81;p14"/>
            <p:cNvSpPr txBox="1"/>
            <p:nvPr/>
          </p:nvSpPr>
          <p:spPr>
            <a:xfrm>
              <a:off x="3066225" y="3106213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100" lIns="105100" spcFirstLastPara="1" rIns="105100" wrap="square" tIns="1051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839"/>
                </a:spcAft>
                <a:buNone/>
              </a:pPr>
              <a:r>
                <a:rPr lang="es" sz="92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Jugadores no suelen poder registran sus partidos no oficiales aunque quieran</a:t>
              </a:r>
              <a:endParaRPr sz="920">
                <a:solidFill>
                  <a:srgbClr val="FFFFFF"/>
                </a:solidFill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383332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05100" lIns="105100" spcFirstLastPara="1" rIns="105100" wrap="square" tIns="105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14"/>
          <p:cNvSpPr/>
          <p:nvPr/>
        </p:nvSpPr>
        <p:spPr>
          <a:xfrm rot="-711028">
            <a:off x="188501" y="2813334"/>
            <a:ext cx="1552897" cy="66253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105100" lIns="105100" spcFirstLastPara="1" rIns="105100" wrap="square" tIns="105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14"/>
          <p:cNvGrpSpPr/>
          <p:nvPr/>
        </p:nvGrpSpPr>
        <p:grpSpPr>
          <a:xfrm>
            <a:off x="712412" y="1382128"/>
            <a:ext cx="1968749" cy="1433143"/>
            <a:chOff x="1637475" y="1219942"/>
            <a:chExt cx="1712700" cy="1246754"/>
          </a:xfrm>
        </p:grpSpPr>
        <p:sp>
          <p:nvSpPr>
            <p:cNvPr id="85" name="Google Shape;85;p14"/>
            <p:cNvSpPr/>
            <p:nvPr/>
          </p:nvSpPr>
          <p:spPr>
            <a:xfrm>
              <a:off x="1637475" y="1219942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05100" lIns="105100" spcFirstLastPara="1" rIns="105100" wrap="square" tIns="105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9"/>
            </a:p>
          </p:txBody>
        </p:sp>
        <p:sp>
          <p:nvSpPr>
            <p:cNvPr id="86" name="Google Shape;86;p14"/>
            <p:cNvSpPr txBox="1"/>
            <p:nvPr/>
          </p:nvSpPr>
          <p:spPr>
            <a:xfrm>
              <a:off x="2144544" y="1985297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100" lIns="105100" spcFirstLastPara="1" rIns="105100" wrap="square" tIns="1051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839"/>
                </a:spcAft>
                <a:buNone/>
              </a:pPr>
              <a:r>
                <a:rPr b="1" lang="es" sz="92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Estadistica</a:t>
              </a:r>
              <a:endParaRPr b="1" sz="92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 rot="10800000">
              <a:off x="2448800" y="1919036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05100" lIns="105100" spcFirstLastPara="1" rIns="105100" wrap="square" tIns="105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4"/>
            <p:cNvSpPr txBox="1"/>
            <p:nvPr/>
          </p:nvSpPr>
          <p:spPr>
            <a:xfrm>
              <a:off x="1681725" y="1257142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100" lIns="105100" spcFirstLastPara="1" rIns="105100" wrap="square" tIns="1051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839"/>
                </a:spcAft>
                <a:buNone/>
              </a:pPr>
              <a:r>
                <a:rPr lang="es" sz="92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Estadísticas</a:t>
              </a:r>
              <a:r>
                <a:rPr lang="es" sz="92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calculadas a mano por personal capacitado sin posibilidad de feedback </a:t>
              </a:r>
              <a:r>
                <a:rPr lang="es" sz="92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rápido</a:t>
              </a:r>
              <a:endParaRPr sz="920">
                <a:solidFill>
                  <a:srgbClr val="FFFFFF"/>
                </a:solidFill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 rot="-1789476">
              <a:off x="2410765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438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5100" lIns="105100" spcFirstLastPara="1" rIns="105100" wrap="square" tIns="105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4"/>
          <p:cNvSpPr/>
          <p:nvPr/>
        </p:nvSpPr>
        <p:spPr>
          <a:xfrm>
            <a:off x="7465881" y="1992355"/>
            <a:ext cx="1533600" cy="1433100"/>
          </a:xfrm>
          <a:prstGeom prst="roundRect">
            <a:avLst>
              <a:gd fmla="val 16667" name="adj"/>
            </a:avLst>
          </a:prstGeom>
          <a:solidFill>
            <a:srgbClr val="701C7F"/>
          </a:solidFill>
          <a:ln cap="flat" cmpd="sng" w="109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100" lIns="105100" spcFirstLastPara="1" rIns="105100" wrap="square" tIns="10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9"/>
          </a:p>
        </p:txBody>
      </p:sp>
      <p:sp>
        <p:nvSpPr>
          <p:cNvPr id="91" name="Google Shape;91;p14"/>
          <p:cNvSpPr txBox="1"/>
          <p:nvPr/>
        </p:nvSpPr>
        <p:spPr>
          <a:xfrm>
            <a:off x="7577264" y="2180607"/>
            <a:ext cx="1310700" cy="1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100" lIns="105100" spcFirstLastPara="1" rIns="105100" wrap="square" tIns="105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64">
                <a:solidFill>
                  <a:schemeClr val="lt1"/>
                </a:solidFill>
              </a:rPr>
              <a:t>Sector competitivo no oficial </a:t>
            </a:r>
            <a:r>
              <a:rPr lang="es" sz="1164">
                <a:solidFill>
                  <a:schemeClr val="lt1"/>
                </a:solidFill>
              </a:rPr>
              <a:t>desatendido</a:t>
            </a:r>
            <a:endParaRPr sz="1164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